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8449" r:id="rId2"/>
    <p:sldId id="10111" r:id="rId3"/>
    <p:sldId id="10112" r:id="rId4"/>
    <p:sldId id="10115" r:id="rId5"/>
    <p:sldId id="10116" r:id="rId6"/>
    <p:sldId id="10118" r:id="rId7"/>
    <p:sldId id="10117" r:id="rId8"/>
    <p:sldId id="10119" r:id="rId9"/>
    <p:sldId id="10120" r:id="rId10"/>
    <p:sldId id="10123" r:id="rId11"/>
    <p:sldId id="10122" r:id="rId12"/>
    <p:sldId id="10126" r:id="rId13"/>
    <p:sldId id="10124" r:id="rId14"/>
    <p:sldId id="10125" r:id="rId15"/>
    <p:sldId id="10127" r:id="rId16"/>
    <p:sldId id="10128" r:id="rId17"/>
    <p:sldId id="10129" r:id="rId18"/>
    <p:sldId id="10130" r:id="rId19"/>
    <p:sldId id="10131" r:id="rId20"/>
    <p:sldId id="10132" r:id="rId21"/>
    <p:sldId id="10133" r:id="rId22"/>
    <p:sldId id="10134" r:id="rId23"/>
  </p:sldIdLst>
  <p:sldSz cx="12192000" cy="6858000"/>
  <p:notesSz cx="7104063" cy="10234613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0">
          <p15:clr>
            <a:srgbClr val="A4A3A4"/>
          </p15:clr>
        </p15:guide>
        <p15:guide id="2" pos="38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57" userDrawn="1">
          <p15:clr>
            <a:srgbClr val="A4A3A4"/>
          </p15:clr>
        </p15:guide>
        <p15:guide id="2" pos="222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C7D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52" autoAdjust="0"/>
    <p:restoredTop sz="94494" autoAdjust="0"/>
  </p:normalViewPr>
  <p:slideViewPr>
    <p:cSldViewPr showGuides="1">
      <p:cViewPr varScale="1">
        <p:scale>
          <a:sx n="109" d="100"/>
          <a:sy n="109" d="100"/>
        </p:scale>
        <p:origin x="1218" y="102"/>
      </p:cViewPr>
      <p:guideLst>
        <p:guide orient="horz" pos="2250"/>
        <p:guide pos="3810"/>
      </p:guideLst>
    </p:cSldViewPr>
  </p:slideViewPr>
  <p:outlineViewPr>
    <p:cViewPr>
      <p:scale>
        <a:sx n="33" d="100"/>
        <a:sy n="33" d="100"/>
      </p:scale>
      <p:origin x="0" y="-207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774" y="102"/>
      </p:cViewPr>
      <p:guideLst>
        <p:guide orient="horz" pos="3357"/>
        <p:guide pos="222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/>
          <a:lstStyle>
            <a:lvl1pPr algn="r">
              <a:defRPr sz="1300"/>
            </a:lvl1pPr>
          </a:lstStyle>
          <a:p>
            <a:fld id="{907904C7-0A1C-4367-83C2-155C17D7885F}" type="datetime1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 anchor="b"/>
          <a:lstStyle>
            <a:lvl1pPr algn="r">
              <a:defRPr sz="1300"/>
            </a:lvl1pPr>
          </a:lstStyle>
          <a:p>
            <a:fld id="{CF97A279-D452-44E8-A327-B3076A51FB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/>
          <a:lstStyle>
            <a:lvl1pPr algn="r">
              <a:defRPr sz="1300"/>
            </a:lvl1pPr>
          </a:lstStyle>
          <a:p>
            <a:pPr>
              <a:defRPr/>
            </a:pPr>
            <a:fld id="{F2A5579C-BE58-42E9-AAA5-C41C3B4CAB15}" type="datetime1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8" tIns="49529" rIns="99058" bIns="4952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58" tIns="49529" rIns="99058" bIns="4952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1731"/>
          </a:xfrm>
          <a:prstGeom prst="rect">
            <a:avLst/>
          </a:prstGeom>
        </p:spPr>
        <p:txBody>
          <a:bodyPr vert="horz" lIns="99058" tIns="49529" rIns="99058" bIns="49529" rtlCol="0" anchor="b"/>
          <a:lstStyle>
            <a:lvl1pPr algn="r">
              <a:defRPr sz="1300"/>
            </a:lvl1pPr>
          </a:lstStyle>
          <a:p>
            <a:pPr>
              <a:defRPr/>
            </a:pPr>
            <a:fld id="{59439DC8-4B00-4E18-95B5-FA74E4FF38B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-423" y="548640"/>
            <a:ext cx="12189883" cy="0"/>
          </a:xfrm>
          <a:prstGeom prst="line">
            <a:avLst/>
          </a:prstGeom>
          <a:noFill/>
          <a:ln w="28575">
            <a:solidFill>
              <a:srgbClr val="00538E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59480" y="1772816"/>
            <a:ext cx="8269393" cy="122364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9480" y="3861048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1391073" y="3384550"/>
            <a:ext cx="9415780" cy="0"/>
          </a:xfrm>
          <a:prstGeom prst="line">
            <a:avLst/>
          </a:prstGeom>
          <a:noFill/>
          <a:ln w="38100">
            <a:solidFill>
              <a:srgbClr val="08729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14400" y="6367463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140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117" y="620688"/>
            <a:ext cx="12189883" cy="0"/>
          </a:xfrm>
          <a:prstGeom prst="line">
            <a:avLst/>
          </a:prstGeom>
          <a:noFill/>
          <a:ln w="28575">
            <a:solidFill>
              <a:srgbClr val="00538E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V="1">
            <a:off x="-22829" y="6424721"/>
            <a:ext cx="12153853" cy="23849"/>
          </a:xfrm>
          <a:prstGeom prst="line">
            <a:avLst/>
          </a:prstGeom>
          <a:noFill/>
          <a:ln w="9525">
            <a:solidFill>
              <a:srgbClr val="00538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9185709" y="6482451"/>
            <a:ext cx="1724965" cy="31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A6DD4FF9-54E9-47EC-9EFA-7511F6438113}" type="slidenum">
              <a:rPr lang="en-US" altLang="zh-CN" sz="1400" smtClean="0"/>
              <a:t>‹#›</a:t>
            </a:fld>
            <a:endParaRPr lang="en-US" altLang="zh-CN" sz="1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55003"/>
            <a:ext cx="11521280" cy="472057"/>
          </a:xfrm>
          <a:prstGeom prst="rect">
            <a:avLst/>
          </a:prstGeom>
        </p:spPr>
        <p:txBody>
          <a:bodyPr/>
          <a:lstStyle>
            <a:lvl1pPr algn="l">
              <a:defRPr sz="3200" b="0">
                <a:solidFill>
                  <a:srgbClr val="00538E"/>
                </a:solidFill>
                <a:latin typeface="+mn-lt"/>
                <a:ea typeface="方正粗黑宋简体" panose="02000000000000000000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878840"/>
            <a:ext cx="11521280" cy="528646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Ø"/>
              <a:defRPr sz="2800" b="0"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2800" b="0">
                <a:solidFill>
                  <a:srgbClr val="00538E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Font typeface="Arial" panose="020B0604020202020204" pitchFamily="34" charset="0"/>
              <a:buChar char="•"/>
              <a:defRPr sz="2800" b="0"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714500" indent="-342900">
              <a:lnSpc>
                <a:spcPct val="150000"/>
              </a:lnSpc>
              <a:buFont typeface="Wingdings" panose="05000000000000000000" pitchFamily="2" charset="2"/>
              <a:buChar char="ü"/>
              <a:defRPr sz="2800" b="0"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2000" b="0"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660515"/>
            <a:ext cx="2540000" cy="164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400"/>
            </a:lvl1pPr>
          </a:lstStyle>
          <a:p>
            <a:pPr>
              <a:defRPr/>
            </a:pPr>
            <a:fld id="{EF8FC5F8-EC4D-4E93-9811-EDCA40E32BF2}" type="datetime1">
              <a:rPr lang="en-US" altLang="zh-CN" smtClean="0"/>
              <a:t>6/28/2026</a:t>
            </a:fld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914400" y="6367463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1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165600" y="6367463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/>
          </a:p>
        </p:txBody>
      </p:sp>
      <p:sp>
        <p:nvSpPr>
          <p:cNvPr id="2" name="WordArt 6"/>
          <p:cNvSpPr>
            <a:spLocks noChangeArrowheads="1" noChangeShapeType="1" noTextEdit="1"/>
          </p:cNvSpPr>
          <p:nvPr/>
        </p:nvSpPr>
        <p:spPr bwMode="auto">
          <a:xfrm>
            <a:off x="232833" y="33338"/>
            <a:ext cx="2326217" cy="5699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3708"/>
              </a:avLst>
            </a:prstTxWarp>
          </a:bodyPr>
          <a:lstStyle/>
          <a:p>
            <a:pPr algn="ctr"/>
            <a:r>
              <a:rPr lang="en-US" altLang="zh-CN" sz="3600" b="1" i="1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Compiler</a:t>
            </a:r>
            <a:endParaRPr lang="zh-CN" altLang="en-US" sz="3600" b="1" i="1" kern="1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2117" y="568325"/>
            <a:ext cx="1218988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 flipV="1">
            <a:off x="-6773" y="6555740"/>
            <a:ext cx="11485033" cy="0"/>
          </a:xfrm>
          <a:prstGeom prst="line">
            <a:avLst/>
          </a:prstGeom>
          <a:noFill/>
          <a:ln w="9525">
            <a:solidFill>
              <a:srgbClr val="00538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8737600" y="6588125"/>
            <a:ext cx="2540000" cy="23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  <a:defRPr/>
            </a:pPr>
            <a:fld id="{035EEC39-D3C1-45FF-A334-A5548B33C1E7}" type="slidenum">
              <a:rPr lang="en-US" altLang="zh-CN" sz="1400" smtClean="0"/>
              <a:t>‹#›</a:t>
            </a:fld>
            <a:endParaRPr lang="en-US" altLang="zh-CN" sz="1400"/>
          </a:p>
        </p:txBody>
      </p:sp>
      <p:pic>
        <p:nvPicPr>
          <p:cNvPr id="15" name="图片 14" descr="logo透明底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80987" y="6263640"/>
            <a:ext cx="923713" cy="6686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DE178-2093-4B93-83C3-5274A17D8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476" y="620688"/>
            <a:ext cx="9433048" cy="25922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altLang="zh-CN" sz="6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Compiler Principles</a:t>
            </a:r>
            <a:br>
              <a:rPr lang="en-GB" altLang="zh-CN" sz="48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</a:br>
            <a:r>
              <a:rPr lang="en-GB" altLang="zh-CN" sz="54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Course Design Overview</a:t>
            </a:r>
            <a:endParaRPr lang="zh-CN" altLang="en-US" sz="5400" dirty="0">
              <a:solidFill>
                <a:srgbClr val="FF0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23BB22-4E23-4BAB-9291-C0B7AD878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480" y="3789040"/>
            <a:ext cx="9361040" cy="17281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Department of Computer Science and Technology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June 28</a:t>
            </a:r>
            <a:r>
              <a:rPr lang="en-US" altLang="zh-CN" sz="2800" baseline="300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th</a:t>
            </a: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2026</a:t>
            </a:r>
            <a:endParaRPr lang="zh-CN" altLang="en-US" sz="2800" dirty="0">
              <a:solidFill>
                <a:srgbClr val="0070C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480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CBF1D-8B6C-476A-82D1-58B22709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粗黑宋简体" panose="02000000000000000000" pitchFamily="2" charset="-122"/>
              </a:rPr>
              <a:t>教师介绍（</a:t>
            </a:r>
            <a:r>
              <a:rPr lang="en-US" altLang="zh-CN" dirty="0">
                <a:latin typeface="方正粗黑宋简体" panose="02000000000000000000" pitchFamily="2" charset="-122"/>
              </a:rPr>
              <a:t> P009.02 </a:t>
            </a:r>
            <a:r>
              <a:rPr lang="zh-CN" altLang="en-US" dirty="0">
                <a:latin typeface="方正粗黑宋简体" panose="02000000000000000000" pitchFamily="2" charset="-122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20234-21B8-46C6-8624-7F3DDC322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836712"/>
            <a:ext cx="11233248" cy="5184576"/>
          </a:xfrm>
        </p:spPr>
        <p:txBody>
          <a:bodyPr/>
          <a:lstStyle/>
          <a:p>
            <a:r>
              <a:rPr lang="zh-CN" altLang="en-US" dirty="0"/>
              <a:t>朱雪峰</a:t>
            </a:r>
            <a:endParaRPr lang="en-US" altLang="zh-CN" dirty="0"/>
          </a:p>
          <a:p>
            <a:pPr lvl="1"/>
            <a:r>
              <a:rPr lang="zh-CN" altLang="en-US" dirty="0"/>
              <a:t>主楼</a:t>
            </a:r>
            <a:r>
              <a:rPr lang="en-US" altLang="zh-CN" dirty="0"/>
              <a:t>B</a:t>
            </a:r>
            <a:r>
              <a:rPr lang="zh-CN" altLang="en-US" dirty="0"/>
              <a:t>座</a:t>
            </a:r>
            <a:r>
              <a:rPr lang="en-US" altLang="zh-CN" dirty="0"/>
              <a:t>1513</a:t>
            </a:r>
            <a:r>
              <a:rPr lang="zh-CN" altLang="en-US" dirty="0"/>
              <a:t>（</a:t>
            </a:r>
            <a:r>
              <a:rPr lang="en-US" altLang="zh-CN" dirty="0"/>
              <a:t>O</a:t>
            </a:r>
            <a:r>
              <a:rPr lang="zh-CN" altLang="en-US" dirty="0"/>
              <a:t>）， </a:t>
            </a:r>
            <a:r>
              <a:rPr lang="en-US" altLang="zh-CN" dirty="0"/>
              <a:t>89733627</a:t>
            </a:r>
            <a:r>
              <a:rPr lang="zh-CN" altLang="en-US" dirty="0"/>
              <a:t>（</a:t>
            </a:r>
            <a:r>
              <a:rPr lang="en-US" altLang="zh-CN" dirty="0"/>
              <a:t>O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spcAft>
                <a:spcPts val="0"/>
              </a:spcAft>
            </a:pPr>
            <a:r>
              <a:rPr lang="zh-CN" altLang="en-US" dirty="0"/>
              <a:t>邮箱</a:t>
            </a:r>
            <a:endParaRPr lang="en-US" altLang="zh-CN" dirty="0"/>
          </a:p>
          <a:p>
            <a:pPr lvl="1">
              <a:spcAft>
                <a:spcPts val="0"/>
              </a:spcAft>
            </a:pPr>
            <a:r>
              <a:rPr lang="en-US" altLang="zh-CN" dirty="0"/>
              <a:t>xuefeng.zhu@cup.edu.cn </a:t>
            </a:r>
            <a:r>
              <a:rPr lang="zh-CN" altLang="en-US" dirty="0"/>
              <a:t>（</a:t>
            </a:r>
            <a:r>
              <a:rPr lang="en-US" altLang="zh-CN" dirty="0"/>
              <a:t>O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spcAft>
                <a:spcPts val="0"/>
              </a:spcAft>
            </a:pPr>
            <a:r>
              <a:rPr lang="en-US" altLang="zh-CN" dirty="0"/>
              <a:t>QQ</a:t>
            </a:r>
            <a:r>
              <a:rPr lang="zh-CN" altLang="en-US" dirty="0"/>
              <a:t>群：</a:t>
            </a:r>
            <a:r>
              <a:rPr lang="en-US" altLang="zh-CN" dirty="0"/>
              <a:t>1078447966</a:t>
            </a:r>
            <a:r>
              <a:rPr lang="zh-CN" altLang="en-US" dirty="0">
                <a:latin typeface="方正粗黑宋简体" panose="02000000000000000000" pitchFamily="2" charset="-122"/>
              </a:rPr>
              <a:t> </a:t>
            </a:r>
            <a:endParaRPr lang="en-US" altLang="zh-CN" dirty="0"/>
          </a:p>
          <a:p>
            <a:pPr lvl="1">
              <a:spcAft>
                <a:spcPts val="0"/>
              </a:spcAft>
            </a:pPr>
            <a:r>
              <a:rPr lang="zh-CN" altLang="en-US" dirty="0"/>
              <a:t>验证信息为你的名字，仅本次课加群审核，之后不再处理。</a:t>
            </a:r>
            <a:endParaRPr lang="en-US" altLang="zh-CN" dirty="0"/>
          </a:p>
          <a:p>
            <a:pPr lvl="1">
              <a:spcAft>
                <a:spcPts val="0"/>
              </a:spcAft>
            </a:pPr>
            <a:r>
              <a:rPr lang="zh-CN" altLang="en-US" dirty="0"/>
              <a:t>所有学生入群后按：</a:t>
            </a:r>
            <a:r>
              <a:rPr lang="zh-CN" altLang="en-US" dirty="0">
                <a:solidFill>
                  <a:srgbClr val="FF0000"/>
                </a:solidFill>
              </a:rPr>
              <a:t>姓名（学号）</a:t>
            </a:r>
            <a:r>
              <a:rPr lang="zh-CN" altLang="en-US" dirty="0">
                <a:solidFill>
                  <a:srgbClr val="0070C0"/>
                </a:solidFill>
              </a:rPr>
              <a:t>进行实名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982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29213-B36F-46D3-B21A-EF1CCACC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上课时间、地点（</a:t>
            </a:r>
            <a:r>
              <a:rPr lang="en-US" altLang="zh-CN" dirty="0">
                <a:latin typeface="Arial Narrow" panose="020B0606020202030204" pitchFamily="34" charset="0"/>
              </a:rPr>
              <a:t> P009.02 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2AF81-12C7-4BC2-BD54-340F3588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时间：</a:t>
            </a:r>
            <a:r>
              <a:rPr lang="en-US" altLang="zh-CN" dirty="0"/>
              <a:t>2026.6.28-2026.7.5</a:t>
            </a:r>
          </a:p>
          <a:p>
            <a:pPr lvl="1"/>
            <a:r>
              <a:rPr lang="en-US" altLang="zh-CN" dirty="0"/>
              <a:t>8:00-8:45</a:t>
            </a:r>
          </a:p>
          <a:p>
            <a:pPr lvl="1"/>
            <a:r>
              <a:rPr lang="en-US" altLang="zh-CN" dirty="0"/>
              <a:t>8:50-9:35</a:t>
            </a:r>
          </a:p>
          <a:p>
            <a:pPr lvl="1"/>
            <a:r>
              <a:rPr lang="en-US" altLang="zh-CN" dirty="0"/>
              <a:t>10:05-10:50</a:t>
            </a:r>
          </a:p>
          <a:p>
            <a:pPr lvl="1"/>
            <a:r>
              <a:rPr lang="en-US" altLang="zh-CN" dirty="0"/>
              <a:t>10:55-11:40</a:t>
            </a:r>
          </a:p>
          <a:p>
            <a:r>
              <a:rPr lang="zh-CN" altLang="en-US" dirty="0"/>
              <a:t>地点</a:t>
            </a:r>
            <a:endParaRPr lang="en-US" altLang="zh-CN" dirty="0"/>
          </a:p>
          <a:p>
            <a:pPr lvl="1"/>
            <a:r>
              <a:rPr lang="zh-CN" altLang="en-US" dirty="0"/>
              <a:t>三教</a:t>
            </a:r>
            <a:r>
              <a:rPr lang="en-US" altLang="zh-CN" dirty="0"/>
              <a:t>402,403</a:t>
            </a:r>
            <a:r>
              <a:rPr lang="zh-CN" altLang="en-US" dirty="0"/>
              <a:t>机房</a:t>
            </a:r>
          </a:p>
        </p:txBody>
      </p:sp>
    </p:spTree>
    <p:extLst>
      <p:ext uri="{BB962C8B-B14F-4D97-AF65-F5344CB8AC3E}">
        <p14:creationId xmlns:p14="http://schemas.microsoft.com/office/powerpoint/2010/main" val="196147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93C0C-AF12-4161-B48E-7B1DB1B5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 程 安 排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7C3C8C1-93A9-4E63-B2B6-EBEF62EA88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013584"/>
              </p:ext>
            </p:extLst>
          </p:nvPr>
        </p:nvGraphicFramePr>
        <p:xfrm>
          <a:off x="551384" y="1196752"/>
          <a:ext cx="10880728" cy="3400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091">
                  <a:extLst>
                    <a:ext uri="{9D8B030D-6E8A-4147-A177-3AD203B41FA5}">
                      <a16:colId xmlns:a16="http://schemas.microsoft.com/office/drawing/2014/main" val="2096704917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2505800579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3173773129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3555865873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2050712092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2267417532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3997643437"/>
                    </a:ext>
                  </a:extLst>
                </a:gridCol>
                <a:gridCol w="1360091">
                  <a:extLst>
                    <a:ext uri="{9D8B030D-6E8A-4147-A177-3AD203B41FA5}">
                      <a16:colId xmlns:a16="http://schemas.microsoft.com/office/drawing/2014/main" val="3003304837"/>
                    </a:ext>
                  </a:extLst>
                </a:gridCol>
              </a:tblGrid>
              <a:tr h="5984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时间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时间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时间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时间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内容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559030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6.28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6.29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6.30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7.1</a:t>
                      </a:r>
                    </a:p>
                  </a:txBody>
                  <a:tcPr anchor="ctr" horzOverflow="overflow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 horzOverflow="overflow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98324"/>
                  </a:ext>
                </a:extLst>
              </a:tr>
              <a:tr h="719433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altLang="zh-CN" sz="2800" dirty="0"/>
                        <a:t>7.2 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altLang="zh-CN" sz="2800" dirty="0"/>
                        <a:t>7.3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altLang="zh-CN" sz="2800" dirty="0"/>
                        <a:t>7.4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altLang="zh-CN" sz="2800" dirty="0"/>
                        <a:t>7.5</a:t>
                      </a:r>
                      <a:endParaRPr lang="zh-CN" altLang="en-US" sz="2800" dirty="0"/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上课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301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32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7B9F7-BF51-4551-9AB1-99A07056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课本及参考书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04ABB-F373-46F0-B31B-36E20F267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课本</a:t>
            </a:r>
            <a:endParaRPr lang="en-US" altLang="zh-CN" dirty="0"/>
          </a:p>
          <a:p>
            <a:pPr lvl="1"/>
            <a:r>
              <a:rPr lang="zh-CN" altLang="en-US" dirty="0"/>
              <a:t>许畅 等编著，</a:t>
            </a:r>
            <a:r>
              <a:rPr lang="en-US" altLang="zh-CN" dirty="0"/>
              <a:t>《</a:t>
            </a:r>
            <a:r>
              <a:rPr lang="zh-CN" altLang="en-US" dirty="0"/>
              <a:t>编译方法、技术与实践</a:t>
            </a:r>
            <a:r>
              <a:rPr lang="en-US" altLang="zh-CN" dirty="0"/>
              <a:t>》</a:t>
            </a:r>
            <a:r>
              <a:rPr lang="zh-CN" altLang="en-US" dirty="0"/>
              <a:t>，机械工业出版社，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月（</a:t>
            </a:r>
            <a:r>
              <a:rPr lang="en-US" altLang="zh-CN" dirty="0"/>
              <a:t>101</a:t>
            </a:r>
            <a:r>
              <a:rPr lang="zh-CN" altLang="en-US" dirty="0"/>
              <a:t>计划“编译原理”课程教材）</a:t>
            </a:r>
            <a:endParaRPr lang="en-US" altLang="zh-CN" dirty="0"/>
          </a:p>
          <a:p>
            <a:r>
              <a:rPr lang="zh-CN" altLang="en-US" dirty="0"/>
              <a:t>参考书</a:t>
            </a:r>
            <a:endParaRPr lang="en-US" altLang="zh-CN" dirty="0"/>
          </a:p>
          <a:p>
            <a:pPr lvl="1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张昱，陈意云 等编著，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编译原理实验教程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》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，高等教育出版社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125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7B9F7-BF51-4551-9AB1-99A07056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101</a:t>
            </a:r>
            <a:r>
              <a:rPr lang="zh-CN" altLang="en-US" dirty="0"/>
              <a:t>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04ABB-F373-46F0-B31B-36E20F267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12</a:t>
            </a:r>
            <a:r>
              <a:rPr lang="zh-CN" altLang="en-US" dirty="0"/>
              <a:t>门核心课程</a:t>
            </a:r>
            <a:endParaRPr lang="en-US" altLang="zh-CN" dirty="0"/>
          </a:p>
          <a:p>
            <a:pPr lvl="1"/>
            <a:r>
              <a:rPr lang="zh-CN" altLang="en-US" dirty="0"/>
              <a:t>计算概论（计算机科学导论）</a:t>
            </a:r>
            <a:endParaRPr lang="en-US" altLang="zh-CN" dirty="0"/>
          </a:p>
          <a:p>
            <a:pPr lvl="1"/>
            <a:r>
              <a:rPr lang="zh-CN" altLang="en-US" dirty="0"/>
              <a:t>数据结构</a:t>
            </a:r>
            <a:endParaRPr lang="en-US" altLang="zh-CN" dirty="0"/>
          </a:p>
          <a:p>
            <a:pPr lvl="1"/>
            <a:r>
              <a:rPr lang="zh-CN" altLang="en-US" dirty="0"/>
              <a:t>算法设计与分析</a:t>
            </a:r>
            <a:endParaRPr lang="en-US" altLang="zh-CN" dirty="0"/>
          </a:p>
          <a:p>
            <a:pPr lvl="1"/>
            <a:r>
              <a:rPr lang="zh-CN" altLang="en-US" dirty="0"/>
              <a:t>离散数学</a:t>
            </a:r>
            <a:endParaRPr lang="en-US" altLang="zh-CN" dirty="0"/>
          </a:p>
          <a:p>
            <a:pPr lvl="1"/>
            <a:r>
              <a:rPr lang="zh-CN" altLang="en-US" dirty="0"/>
              <a:t>计算机系统导论</a:t>
            </a:r>
            <a:endParaRPr lang="en-US" altLang="zh-CN" dirty="0"/>
          </a:p>
          <a:p>
            <a:pPr lvl="1"/>
            <a:r>
              <a:rPr lang="zh-CN" altLang="en-US" dirty="0"/>
              <a:t>计算机组成与系统结构</a:t>
            </a:r>
          </a:p>
        </p:txBody>
      </p:sp>
    </p:spTree>
    <p:extLst>
      <p:ext uri="{BB962C8B-B14F-4D97-AF65-F5344CB8AC3E}">
        <p14:creationId xmlns:p14="http://schemas.microsoft.com/office/powerpoint/2010/main" val="2977291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CAD10-FB93-4AA1-94FA-F64BCAB3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101</a:t>
            </a:r>
            <a:r>
              <a:rPr lang="zh-CN" altLang="en-US" dirty="0"/>
              <a:t>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AB62F-E5C7-45A6-B91F-BEEB3B58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764704"/>
            <a:ext cx="11521280" cy="5688632"/>
          </a:xfrm>
        </p:spPr>
        <p:txBody>
          <a:bodyPr/>
          <a:lstStyle/>
          <a:p>
            <a:r>
              <a:rPr lang="en-US" altLang="zh-CN" dirty="0"/>
              <a:t>12</a:t>
            </a:r>
            <a:r>
              <a:rPr lang="zh-CN" altLang="en-US" dirty="0"/>
              <a:t>门核心课程</a:t>
            </a:r>
            <a:endParaRPr lang="en-US" altLang="zh-CN" dirty="0"/>
          </a:p>
          <a:p>
            <a:pPr lvl="1"/>
            <a:r>
              <a:rPr lang="zh-CN" altLang="en-US" dirty="0"/>
              <a:t>操作系统</a:t>
            </a:r>
            <a:endParaRPr lang="en-US" altLang="zh-CN" dirty="0"/>
          </a:p>
          <a:p>
            <a:pPr lvl="1"/>
            <a:r>
              <a:rPr lang="zh-CN" altLang="en-US" dirty="0"/>
              <a:t>编译原理</a:t>
            </a:r>
            <a:endParaRPr lang="en-US" altLang="zh-CN" dirty="0"/>
          </a:p>
          <a:p>
            <a:pPr lvl="1"/>
            <a:r>
              <a:rPr lang="zh-CN" altLang="en-US" dirty="0"/>
              <a:t>计算机网络</a:t>
            </a:r>
            <a:endParaRPr lang="en-US" altLang="zh-CN" dirty="0"/>
          </a:p>
          <a:p>
            <a:pPr lvl="1"/>
            <a:r>
              <a:rPr lang="zh-CN" altLang="en-US" dirty="0"/>
              <a:t>数据库系统</a:t>
            </a:r>
            <a:endParaRPr lang="en-US" altLang="zh-CN" dirty="0"/>
          </a:p>
          <a:p>
            <a:pPr lvl="1"/>
            <a:r>
              <a:rPr lang="zh-CN" altLang="en-US" dirty="0"/>
              <a:t>软件工程</a:t>
            </a:r>
            <a:endParaRPr lang="en-US" altLang="zh-CN" dirty="0"/>
          </a:p>
          <a:p>
            <a:pPr lvl="1"/>
            <a:r>
              <a:rPr lang="zh-CN" altLang="en-US" dirty="0"/>
              <a:t>人工智能导论</a:t>
            </a:r>
          </a:p>
        </p:txBody>
      </p:sp>
    </p:spTree>
    <p:extLst>
      <p:ext uri="{BB962C8B-B14F-4D97-AF65-F5344CB8AC3E}">
        <p14:creationId xmlns:p14="http://schemas.microsoft.com/office/powerpoint/2010/main" val="365698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31D32-C365-47B7-8B67-41EC6B7A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成绩构成（大纲规定）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D2ACE-7AD1-4687-A9A5-587001B5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考勤</a:t>
            </a:r>
            <a:endParaRPr lang="en-US" altLang="zh-CN" sz="2400" dirty="0"/>
          </a:p>
          <a:p>
            <a:pPr lvl="1"/>
            <a:r>
              <a:rPr lang="zh-CN" altLang="en-US" sz="2400" dirty="0"/>
              <a:t>抽查</a:t>
            </a:r>
            <a:r>
              <a:rPr lang="en-US" altLang="zh-CN" sz="2400" dirty="0"/>
              <a:t>4</a:t>
            </a:r>
            <a:r>
              <a:rPr lang="zh-CN" altLang="en-US" sz="2400" dirty="0"/>
              <a:t>次，每次</a:t>
            </a:r>
            <a:r>
              <a:rPr lang="en-US" altLang="zh-CN" sz="2400" dirty="0"/>
              <a:t>1</a:t>
            </a:r>
            <a:r>
              <a:rPr lang="zh-CN" altLang="en-US" sz="2400" dirty="0"/>
              <a:t>分，共</a:t>
            </a:r>
            <a:r>
              <a:rPr lang="en-US" altLang="zh-CN" sz="2400" dirty="0"/>
              <a:t>4</a:t>
            </a:r>
            <a:r>
              <a:rPr lang="zh-CN" altLang="en-US" sz="2400" dirty="0"/>
              <a:t>分；</a:t>
            </a:r>
            <a:endParaRPr lang="en-US" altLang="zh-CN" sz="2400" dirty="0"/>
          </a:p>
          <a:p>
            <a:r>
              <a:rPr lang="zh-CN" altLang="en-US" sz="2400" dirty="0"/>
              <a:t>阶段检查</a:t>
            </a:r>
            <a:endParaRPr lang="en-US" altLang="zh-CN" sz="2400" dirty="0"/>
          </a:p>
          <a:p>
            <a:pPr lvl="1"/>
            <a:r>
              <a:rPr lang="zh-CN" altLang="en-US" sz="2400" dirty="0"/>
              <a:t>检查</a:t>
            </a:r>
            <a:r>
              <a:rPr lang="en-US" altLang="zh-CN" sz="2400" dirty="0"/>
              <a:t>4</a:t>
            </a:r>
            <a:r>
              <a:rPr lang="zh-CN" altLang="en-US" sz="2400" dirty="0"/>
              <a:t>次，每次</a:t>
            </a:r>
            <a:r>
              <a:rPr lang="en-US" altLang="zh-CN" sz="2400" dirty="0"/>
              <a:t>4</a:t>
            </a:r>
            <a:r>
              <a:rPr lang="zh-CN" altLang="en-US" sz="2400" dirty="0"/>
              <a:t>分，共</a:t>
            </a:r>
            <a:r>
              <a:rPr lang="en-US" altLang="zh-CN" sz="2400" dirty="0"/>
              <a:t>16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zh-CN" altLang="en-US" sz="2400" dirty="0"/>
              <a:t>上机检查</a:t>
            </a:r>
            <a:endParaRPr lang="en-US" altLang="zh-CN" sz="2400" dirty="0"/>
          </a:p>
          <a:p>
            <a:pPr lvl="1"/>
            <a:r>
              <a:rPr lang="zh-CN" altLang="en-US" sz="2400" dirty="0"/>
              <a:t>按三层次标准进行检查，共</a:t>
            </a:r>
            <a:r>
              <a:rPr lang="en-US" altLang="zh-CN" sz="2400" dirty="0"/>
              <a:t>50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zh-CN" altLang="en-US" sz="2400" dirty="0"/>
              <a:t>文档检查</a:t>
            </a:r>
            <a:endParaRPr lang="en-US" altLang="zh-CN" sz="2400" dirty="0"/>
          </a:p>
          <a:p>
            <a:pPr lvl="1"/>
            <a:r>
              <a:rPr lang="zh-CN" altLang="en-US" sz="2400" dirty="0"/>
              <a:t>根据最终提交的文档检查，共</a:t>
            </a:r>
            <a:r>
              <a:rPr lang="en-US" altLang="zh-CN" sz="2400" dirty="0"/>
              <a:t>20</a:t>
            </a:r>
            <a:r>
              <a:rPr lang="zh-CN" altLang="en-US" sz="2400" dirty="0"/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289343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F75BB-CF39-4D80-9DB5-B1D23EDCB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课程设计分组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93B51-95AC-42A9-A74C-D589EC61A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双人模式</a:t>
            </a:r>
            <a:endParaRPr lang="en-US" altLang="zh-CN" dirty="0"/>
          </a:p>
          <a:p>
            <a:pPr lvl="1"/>
            <a:r>
              <a:rPr lang="zh-CN" altLang="en-US" dirty="0"/>
              <a:t>正常模式，小组获得正常分数</a:t>
            </a:r>
            <a:endParaRPr lang="en-US" altLang="zh-CN" dirty="0"/>
          </a:p>
          <a:p>
            <a:r>
              <a:rPr lang="zh-CN" altLang="en-US" dirty="0"/>
              <a:t>单人模式</a:t>
            </a:r>
            <a:endParaRPr lang="en-US" altLang="zh-CN" dirty="0"/>
          </a:p>
          <a:p>
            <a:pPr lvl="1"/>
            <a:r>
              <a:rPr lang="zh-CN" altLang="en-US" dirty="0"/>
              <a:t>高手模式，分数为</a:t>
            </a:r>
            <a:r>
              <a:rPr lang="en-US" altLang="zh-CN" dirty="0"/>
              <a:t>110%</a:t>
            </a:r>
          </a:p>
          <a:p>
            <a:r>
              <a:rPr lang="zh-CN" altLang="en-US" dirty="0"/>
              <a:t>三人模式</a:t>
            </a:r>
            <a:endParaRPr lang="en-US" altLang="zh-CN" dirty="0"/>
          </a:p>
          <a:p>
            <a:pPr lvl="1"/>
            <a:r>
              <a:rPr lang="zh-CN" altLang="en-US" dirty="0"/>
              <a:t>互助模式，分数为</a:t>
            </a:r>
            <a:r>
              <a:rPr lang="en-US" altLang="zh-CN" dirty="0"/>
              <a:t>90%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144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F2173-86AF-429C-AD2F-C9F08C5F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成绩评定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376D20-EA31-43B1-80B5-19F99EFB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评优个人（不按小组进行）进行评优汇报，课程开始进行初步统计，但名单只减不增（实现过程中随时可申请退出）。</a:t>
            </a:r>
            <a:endParaRPr lang="en-US" altLang="zh-CN" dirty="0"/>
          </a:p>
          <a:p>
            <a:r>
              <a:rPr lang="zh-CN" altLang="en-US" dirty="0"/>
              <a:t>良及以下的成绩不需要答辩。</a:t>
            </a:r>
          </a:p>
        </p:txBody>
      </p:sp>
    </p:spTree>
    <p:extLst>
      <p:ext uri="{BB962C8B-B14F-4D97-AF65-F5344CB8AC3E}">
        <p14:creationId xmlns:p14="http://schemas.microsoft.com/office/powerpoint/2010/main" val="29060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68D9F-4929-48A1-B072-6A7BB426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进度安排（课本上有完整的实践要求）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68E407-1205-4B70-B859-BA4447FD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878840"/>
            <a:ext cx="11521280" cy="5502488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第一次课</a:t>
            </a:r>
            <a:r>
              <a:rPr lang="zh-CN" altLang="en-US" sz="2400" dirty="0"/>
              <a:t>：安装实验所需的各种软件系统，并分析</a:t>
            </a:r>
            <a:r>
              <a:rPr lang="en-US" altLang="zh-CN" sz="2400" dirty="0"/>
              <a:t>C--</a:t>
            </a:r>
            <a:r>
              <a:rPr lang="zh-CN" altLang="en-US" sz="2400" dirty="0"/>
              <a:t>语言</a:t>
            </a:r>
            <a:r>
              <a:rPr lang="en-US" altLang="zh-CN" sz="2400" dirty="0"/>
              <a:t>;</a:t>
            </a:r>
          </a:p>
          <a:p>
            <a:r>
              <a:rPr lang="zh-CN" altLang="en-US" sz="2400" dirty="0">
                <a:solidFill>
                  <a:srgbClr val="0070C0"/>
                </a:solidFill>
              </a:rPr>
              <a:t>第二次课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1.1 </a:t>
            </a:r>
            <a:r>
              <a:rPr lang="zh-CN" altLang="en-US" sz="2400" dirty="0"/>
              <a:t>学习</a:t>
            </a:r>
            <a:r>
              <a:rPr lang="en-US" altLang="zh-CN" sz="2400" dirty="0"/>
              <a:t>Flex</a:t>
            </a:r>
            <a:r>
              <a:rPr lang="zh-CN" altLang="en-US" sz="2400" dirty="0"/>
              <a:t>，用</a:t>
            </a:r>
            <a:r>
              <a:rPr lang="en-US" altLang="zh-CN" sz="2400" dirty="0"/>
              <a:t>Flex</a:t>
            </a:r>
            <a:r>
              <a:rPr lang="zh-CN" altLang="en-US" sz="2400" dirty="0"/>
              <a:t>实现词法分析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第三次课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1.2 </a:t>
            </a:r>
            <a:r>
              <a:rPr lang="zh-CN" altLang="en-US" sz="2400" dirty="0"/>
              <a:t>学习</a:t>
            </a:r>
            <a:r>
              <a:rPr lang="en-US" altLang="zh-CN" sz="2400" dirty="0"/>
              <a:t>Bison</a:t>
            </a:r>
            <a:r>
              <a:rPr lang="zh-CN" altLang="en-US" sz="2400" dirty="0"/>
              <a:t>，用</a:t>
            </a:r>
            <a:r>
              <a:rPr lang="en-US" altLang="zh-CN" sz="2400" dirty="0"/>
              <a:t>Bison</a:t>
            </a:r>
            <a:r>
              <a:rPr lang="zh-CN" altLang="en-US" sz="2400" dirty="0"/>
              <a:t>实现语法分析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70C0"/>
                </a:solidFill>
              </a:rPr>
              <a:t>第四次课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2 </a:t>
            </a:r>
            <a:r>
              <a:rPr lang="zh-CN" altLang="en-US" sz="2400" dirty="0"/>
              <a:t>进行语义分析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第五次课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3 </a:t>
            </a:r>
            <a:r>
              <a:rPr lang="zh-CN" altLang="en-US" sz="2400" dirty="0"/>
              <a:t>生成中间代码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70C0"/>
                </a:solidFill>
              </a:rPr>
              <a:t>第六次课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4 </a:t>
            </a:r>
            <a:r>
              <a:rPr lang="zh-CN" altLang="en-US" sz="2400" dirty="0"/>
              <a:t>生成目标代码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第七次课</a:t>
            </a:r>
            <a:r>
              <a:rPr lang="zh-CN" altLang="en-US" sz="2400" dirty="0"/>
              <a:t>：实践</a:t>
            </a:r>
            <a:r>
              <a:rPr lang="en-US" altLang="zh-CN" sz="2400" dirty="0"/>
              <a:t>5 </a:t>
            </a:r>
            <a:r>
              <a:rPr lang="zh-CN" altLang="en-US" sz="2400" dirty="0"/>
              <a:t>进行代码优化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0070C0"/>
                </a:solidFill>
              </a:rPr>
              <a:t>第八次课</a:t>
            </a:r>
            <a:r>
              <a:rPr lang="zh-CN" altLang="en-US" sz="2400" dirty="0"/>
              <a:t>：评优答辩，课程设计报告撰写与总结。</a:t>
            </a:r>
            <a:endParaRPr lang="en-US" altLang="zh-CN" sz="2400" dirty="0"/>
          </a:p>
          <a:p>
            <a:r>
              <a:rPr lang="zh-CN" altLang="en-US" sz="2400" dirty="0"/>
              <a:t>第五次课停止补充内容：</a:t>
            </a:r>
            <a:r>
              <a:rPr lang="en-US" altLang="zh-CN" sz="2400" dirty="0"/>
              <a:t>PL/0</a:t>
            </a:r>
            <a:r>
              <a:rPr lang="zh-CN" altLang="en-US" sz="2400" dirty="0"/>
              <a:t>扩充部分。</a:t>
            </a:r>
          </a:p>
        </p:txBody>
      </p:sp>
    </p:spTree>
    <p:extLst>
      <p:ext uri="{BB962C8B-B14F-4D97-AF65-F5344CB8AC3E}">
        <p14:creationId xmlns:p14="http://schemas.microsoft.com/office/powerpoint/2010/main" val="159754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6B0F9-63CA-446C-9538-DCB96133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2ADE3B-8D04-42EF-9691-530C9FB1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GNU Linux Release: Ubuntu 20.04</a:t>
            </a:r>
          </a:p>
          <a:p>
            <a:r>
              <a:rPr lang="en-US" altLang="zh-CN" dirty="0"/>
              <a:t>GCC version 7.5.0</a:t>
            </a:r>
          </a:p>
          <a:p>
            <a:r>
              <a:rPr lang="en-US" altLang="zh-CN" dirty="0"/>
              <a:t>GNU Flex version 2.6.4</a:t>
            </a:r>
          </a:p>
          <a:p>
            <a:r>
              <a:rPr lang="en-US" altLang="zh-CN" dirty="0"/>
              <a:t>GNU Bison version 3.5.1</a:t>
            </a:r>
          </a:p>
          <a:p>
            <a:r>
              <a:rPr lang="en-US" altLang="zh-CN" dirty="0" err="1"/>
              <a:t>QtSpim</a:t>
            </a:r>
            <a:r>
              <a:rPr lang="en-US" altLang="zh-CN" dirty="0"/>
              <a:t> version 9.1.9</a:t>
            </a:r>
          </a:p>
          <a:p>
            <a:r>
              <a:rPr lang="zh-CN" altLang="en-US" dirty="0"/>
              <a:t>课程提供的虚拟机小程序</a:t>
            </a:r>
            <a:r>
              <a:rPr lang="en-US" altLang="zh-CN" dirty="0" err="1"/>
              <a:t>irsim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939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CADB9-70B9-4938-AED7-7ED98CA7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MIPS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87839-EFFE-4A7D-A096-08364811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一种采用精简指令集（</a:t>
            </a:r>
            <a:r>
              <a:rPr lang="en-US" altLang="zh-CN" dirty="0"/>
              <a:t>Reduced Instruction Set Computer, RISC</a:t>
            </a:r>
            <a:r>
              <a:rPr lang="zh-CN" altLang="en-US" dirty="0"/>
              <a:t>）的指令集架构（</a:t>
            </a:r>
            <a:r>
              <a:rPr lang="en-US" altLang="zh-CN" dirty="0"/>
              <a:t>Instruction Set Architecture, ISA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SPIM Simulator</a:t>
            </a:r>
          </a:p>
          <a:p>
            <a:pPr lvl="1"/>
            <a:r>
              <a:rPr lang="zh-CN" altLang="en-US" dirty="0"/>
              <a:t>运行</a:t>
            </a:r>
            <a:r>
              <a:rPr lang="en-US" altLang="zh-CN" dirty="0"/>
              <a:t>MIPS32</a:t>
            </a:r>
            <a:r>
              <a:rPr lang="zh-CN" altLang="en-US" dirty="0"/>
              <a:t>程序的独立模拟器</a:t>
            </a:r>
          </a:p>
        </p:txBody>
      </p:sp>
    </p:spTree>
    <p:extLst>
      <p:ext uri="{BB962C8B-B14F-4D97-AF65-F5344CB8AC3E}">
        <p14:creationId xmlns:p14="http://schemas.microsoft.com/office/powerpoint/2010/main" val="37704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F9EAE-F170-4B7A-AE5A-95E4F74C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软件工程知识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31A41-0614-4AC9-A1DD-96C6A576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过程模型</a:t>
            </a:r>
            <a:endParaRPr lang="en-US" altLang="zh-CN" dirty="0"/>
          </a:p>
          <a:p>
            <a:pPr lvl="1"/>
            <a:r>
              <a:rPr lang="zh-CN" altLang="en-US" dirty="0"/>
              <a:t>瀑布模型、原型模型、增量模型、螺旋模型等</a:t>
            </a:r>
            <a:endParaRPr lang="en-US" altLang="zh-CN" dirty="0"/>
          </a:p>
          <a:p>
            <a:pPr lvl="1"/>
            <a:r>
              <a:rPr lang="zh-CN" altLang="en-US" dirty="0"/>
              <a:t>敏捷开发</a:t>
            </a:r>
            <a:endParaRPr lang="en-US" altLang="zh-CN" dirty="0"/>
          </a:p>
          <a:p>
            <a:r>
              <a:rPr lang="zh-CN" altLang="en-US" dirty="0"/>
              <a:t>测试用例</a:t>
            </a:r>
          </a:p>
        </p:txBody>
      </p:sp>
    </p:spTree>
    <p:extLst>
      <p:ext uri="{BB962C8B-B14F-4D97-AF65-F5344CB8AC3E}">
        <p14:creationId xmlns:p14="http://schemas.microsoft.com/office/powerpoint/2010/main" val="115720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DE178-2093-4B93-83C3-5274A17D8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476" y="980728"/>
            <a:ext cx="9433048" cy="22322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altLang="zh-CN" sz="6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PL/0</a:t>
            </a:r>
            <a:r>
              <a:rPr lang="zh-CN" altLang="en-US" sz="6000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编译程序的扩展</a:t>
            </a:r>
            <a:endParaRPr lang="zh-CN" altLang="en-US" sz="5400" dirty="0">
              <a:solidFill>
                <a:srgbClr val="FF0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23BB22-4E23-4BAB-9291-C0B7AD878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480" y="3789040"/>
            <a:ext cx="9361040" cy="17281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Department of Computer Science and Technology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June 28</a:t>
            </a:r>
            <a:r>
              <a:rPr lang="en-US" altLang="zh-CN" sz="2800" baseline="300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th</a:t>
            </a:r>
            <a:r>
              <a:rPr lang="en-US" altLang="zh-CN" sz="2800" dirty="0">
                <a:solidFill>
                  <a:srgbClr val="0070C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 2026</a:t>
            </a:r>
            <a:endParaRPr lang="zh-CN" altLang="en-US" sz="2800" dirty="0">
              <a:solidFill>
                <a:srgbClr val="0070C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7617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2ABB8-8CAB-47AE-BE4B-F36C8F3B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B8CE3-E7F5-415D-8B15-830D180CA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上交材料</a:t>
            </a:r>
            <a:endParaRPr lang="en-US" altLang="zh-CN" dirty="0"/>
          </a:p>
          <a:p>
            <a:pPr lvl="1"/>
            <a:r>
              <a:rPr lang="zh-CN" altLang="en-US" dirty="0"/>
              <a:t>调试通过的</a:t>
            </a:r>
            <a:r>
              <a:rPr lang="en-US" altLang="zh-CN" dirty="0"/>
              <a:t>PL</a:t>
            </a:r>
            <a:r>
              <a:rPr lang="zh-CN" altLang="en-US" dirty="0"/>
              <a:t>源程序；</a:t>
            </a:r>
            <a:endParaRPr lang="en-US" altLang="zh-CN" dirty="0"/>
          </a:p>
          <a:p>
            <a:pPr lvl="1"/>
            <a:r>
              <a:rPr lang="zh-CN" altLang="en-US" dirty="0"/>
              <a:t>实验报告：</a:t>
            </a:r>
            <a:endParaRPr lang="en-US" altLang="zh-CN" dirty="0"/>
          </a:p>
          <a:p>
            <a:pPr lvl="2"/>
            <a:r>
              <a:rPr lang="zh-CN" altLang="en-US" dirty="0"/>
              <a:t>写如何分析和解决问题，不用套话；</a:t>
            </a:r>
            <a:endParaRPr lang="en-US" altLang="zh-CN" dirty="0"/>
          </a:p>
          <a:p>
            <a:pPr lvl="1"/>
            <a:r>
              <a:rPr lang="zh-CN" altLang="en-US" dirty="0"/>
              <a:t>录屏汇报（展示一步步怎么做的，加解释，限制大小）；</a:t>
            </a:r>
          </a:p>
        </p:txBody>
      </p:sp>
    </p:spTree>
    <p:extLst>
      <p:ext uri="{BB962C8B-B14F-4D97-AF65-F5344CB8AC3E}">
        <p14:creationId xmlns:p14="http://schemas.microsoft.com/office/powerpoint/2010/main" val="846322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224E6-376E-4E57-92C5-B21C31B9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实验目标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D7879-CBB5-4A4D-B711-7C6958444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通过对</a:t>
            </a:r>
            <a:r>
              <a:rPr lang="en-US" altLang="zh-CN" dirty="0"/>
              <a:t>PL</a:t>
            </a:r>
            <a:r>
              <a:rPr lang="zh-CN" altLang="en-US" dirty="0"/>
              <a:t>语言编译程序的扩充，加深对编译过程的整体认识，进一步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理解编译程序本身的整体结构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>
                <a:latin typeface="宋体" panose="02010600030101010101" pitchFamily="2" charset="-122"/>
              </a:rPr>
              <a:t>通过对一个具体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词法分析程序</a:t>
            </a:r>
            <a:r>
              <a:rPr lang="zh-CN" altLang="en-US" dirty="0">
                <a:latin typeface="宋体" panose="02010600030101010101" pitchFamily="2" charset="-122"/>
              </a:rPr>
              <a:t>的扩充与调试，加深对词法分析原理的理解，掌握词法分析的基本方法和实现技术；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通过调试一个实际的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语法分析程序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，理解语法分析原理和实现方法，掌握递归下降分析程序的构造、错误处理方法及符号表的组织方式；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通过实际的语义分析和中间代码产生的实现，理解和掌握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自顶向下分析中语法制导翻译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的基本思想与实现方法。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3270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9D988-F3D5-4B04-B2AC-F9D47779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实验内容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3048F-4292-4D6D-B451-0B0FFD7E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PL</a:t>
            </a:r>
            <a:r>
              <a:rPr lang="zh-CN" altLang="en-US" dirty="0"/>
              <a:t>语言（结构化语言的子集）为背景，实习编译程序的构造方法。</a:t>
            </a:r>
            <a:endParaRPr lang="en-US" altLang="zh-CN" dirty="0"/>
          </a:p>
          <a:p>
            <a:pPr lvl="1"/>
            <a:r>
              <a:rPr lang="zh-CN" altLang="en-US" dirty="0"/>
              <a:t>首先通过调试</a:t>
            </a:r>
            <a:r>
              <a:rPr lang="en-US" altLang="zh-CN" dirty="0"/>
              <a:t>PL</a:t>
            </a:r>
            <a:r>
              <a:rPr lang="zh-CN" altLang="en-US" dirty="0"/>
              <a:t>编译程序，了解一个小的编译程序的总体框架，掌握递归下降分析程序的构造，理解和掌握错误处理方法及符号表的组织方式，理解和掌握语法制导翻译。</a:t>
            </a:r>
          </a:p>
        </p:txBody>
      </p:sp>
    </p:spTree>
    <p:extLst>
      <p:ext uri="{BB962C8B-B14F-4D97-AF65-F5344CB8AC3E}">
        <p14:creationId xmlns:p14="http://schemas.microsoft.com/office/powerpoint/2010/main" val="4077506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9D988-F3D5-4B04-B2AC-F9D477797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实验内容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3048F-4292-4D6D-B451-0B0FFD7E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PL</a:t>
            </a:r>
            <a:r>
              <a:rPr lang="zh-CN" altLang="en-US" dirty="0"/>
              <a:t>语言（结构化语言的子集）为背景，实习编译程序的构造方法。</a:t>
            </a:r>
            <a:endParaRPr lang="en-US" altLang="zh-CN" dirty="0"/>
          </a:p>
          <a:p>
            <a:pPr lvl="1"/>
            <a:r>
              <a:rPr lang="zh-CN" altLang="en-US" dirty="0"/>
              <a:t>然后扩充</a:t>
            </a:r>
            <a:r>
              <a:rPr lang="en-US" altLang="zh-CN" dirty="0"/>
              <a:t>PL</a:t>
            </a:r>
            <a:r>
              <a:rPr lang="zh-CN" altLang="en-US" dirty="0"/>
              <a:t>语言成分，并对相应的编译程序进行扩充。扩充内容： </a:t>
            </a:r>
          </a:p>
          <a:p>
            <a:pPr lvl="2"/>
            <a:r>
              <a:rPr lang="zh-CN" altLang="en-US" dirty="0"/>
              <a:t>扩充语句，如增加</a:t>
            </a:r>
            <a:r>
              <a:rPr lang="en-US" altLang="zh-CN" dirty="0"/>
              <a:t>for </a:t>
            </a:r>
            <a:r>
              <a:rPr lang="zh-CN" altLang="en-US" dirty="0"/>
              <a:t>语句、</a:t>
            </a:r>
            <a:r>
              <a:rPr lang="en-US" altLang="zh-CN" dirty="0"/>
              <a:t>repeat </a:t>
            </a:r>
            <a:r>
              <a:rPr lang="zh-CN" altLang="en-US" dirty="0"/>
              <a:t>语句、</a:t>
            </a:r>
            <a:r>
              <a:rPr lang="en-US" altLang="zh-CN" dirty="0"/>
              <a:t>case</a:t>
            </a:r>
            <a:r>
              <a:rPr lang="zh-CN" altLang="en-US" dirty="0"/>
              <a:t>语句等 </a:t>
            </a:r>
          </a:p>
          <a:p>
            <a:pPr lvl="2"/>
            <a:r>
              <a:rPr lang="zh-CN" altLang="en-US" dirty="0"/>
              <a:t>增加函数的说明和使用 </a:t>
            </a:r>
          </a:p>
          <a:p>
            <a:pPr lvl="2"/>
            <a:r>
              <a:rPr lang="zh-CN" altLang="en-US" dirty="0"/>
              <a:t>扩充数据类型，如实型、记录类型等 </a:t>
            </a:r>
          </a:p>
          <a:p>
            <a:pPr lvl="2"/>
            <a:r>
              <a:rPr lang="zh-CN" altLang="en-US" dirty="0"/>
              <a:t>扩充其它语言成分（自己选择扩充）</a:t>
            </a:r>
          </a:p>
        </p:txBody>
      </p:sp>
    </p:spTree>
    <p:extLst>
      <p:ext uri="{BB962C8B-B14F-4D97-AF65-F5344CB8AC3E}">
        <p14:creationId xmlns:p14="http://schemas.microsoft.com/office/powerpoint/2010/main" val="1956601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0BB6D-C1AF-4236-90B0-DA86348F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上机检查要求和流程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8D869-6CF0-4D26-8424-15104063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692696"/>
            <a:ext cx="11521280" cy="5760640"/>
          </a:xfrm>
        </p:spPr>
        <p:txBody>
          <a:bodyPr/>
          <a:lstStyle/>
          <a:p>
            <a:r>
              <a:rPr lang="zh-CN" altLang="en-US" dirty="0"/>
              <a:t>要求提供的材料：</a:t>
            </a:r>
          </a:p>
          <a:p>
            <a:pPr lvl="1"/>
            <a:r>
              <a:rPr lang="zh-CN" altLang="en-US" dirty="0"/>
              <a:t>实践报告</a:t>
            </a:r>
          </a:p>
          <a:p>
            <a:pPr lvl="1"/>
            <a:r>
              <a:rPr lang="zh-CN" altLang="en-US" dirty="0"/>
              <a:t>源程序</a:t>
            </a:r>
            <a:r>
              <a:rPr lang="en-US" altLang="zh-CN" dirty="0"/>
              <a:t>(</a:t>
            </a:r>
            <a:r>
              <a:rPr lang="zh-CN" altLang="en-US" dirty="0"/>
              <a:t>含完整的工程文件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说明扩充功能的</a:t>
            </a:r>
            <a:r>
              <a:rPr lang="en-US" altLang="zh-CN" dirty="0"/>
              <a:t>PL</a:t>
            </a:r>
            <a:r>
              <a:rPr lang="zh-CN" altLang="en-US" dirty="0"/>
              <a:t>语言示例程序</a:t>
            </a:r>
            <a:endParaRPr lang="en-US" altLang="zh-CN" dirty="0"/>
          </a:p>
          <a:p>
            <a:r>
              <a:rPr lang="zh-CN" altLang="en-US" dirty="0"/>
              <a:t>上机检查流程</a:t>
            </a:r>
          </a:p>
          <a:p>
            <a:pPr lvl="1"/>
            <a:r>
              <a:rPr lang="zh-CN" altLang="en-US" dirty="0"/>
              <a:t>提交实践报告，简要说明完成的功能，回答老师的问题。</a:t>
            </a:r>
          </a:p>
          <a:p>
            <a:pPr lvl="1"/>
            <a:r>
              <a:rPr lang="zh-CN" altLang="en-US" dirty="0"/>
              <a:t>编译并运行</a:t>
            </a:r>
            <a:r>
              <a:rPr lang="en-US" altLang="zh-CN" dirty="0"/>
              <a:t>PL</a:t>
            </a:r>
            <a:r>
              <a:rPr lang="zh-CN" altLang="en-US" dirty="0"/>
              <a:t>编译和解释程序，显示“说明扩充功能的</a:t>
            </a:r>
            <a:r>
              <a:rPr lang="en-US" altLang="zh-CN" dirty="0"/>
              <a:t>PL</a:t>
            </a:r>
            <a:r>
              <a:rPr lang="zh-CN" altLang="en-US" dirty="0"/>
              <a:t>语言示例程序”的执行结果</a:t>
            </a:r>
          </a:p>
        </p:txBody>
      </p:sp>
    </p:spTree>
    <p:extLst>
      <p:ext uri="{BB962C8B-B14F-4D97-AF65-F5344CB8AC3E}">
        <p14:creationId xmlns:p14="http://schemas.microsoft.com/office/powerpoint/2010/main" val="3792296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CF0EB-EB07-4F4C-A658-5806AEF3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文件和目录结构说明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D1FF6-313C-4CFF-9D85-25202D007908}"/>
              </a:ext>
            </a:extLst>
          </p:cNvPr>
          <p:cNvSpPr txBox="1">
            <a:spLocks noChangeArrowheads="1"/>
          </p:cNvSpPr>
          <p:nvPr/>
        </p:nvSpPr>
        <p:spPr>
          <a:xfrm>
            <a:off x="1055440" y="1011188"/>
            <a:ext cx="9937104" cy="483562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D60093"/>
              </a:buClr>
              <a:buSzPct val="60000"/>
              <a:buFont typeface="Wingdings" pitchFamily="2" charset="2"/>
              <a:buChar char="Ø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70000"/>
              <a:buFont typeface="Wingdings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lnSpc>
                <a:spcPct val="13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|----C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版本 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Visual C++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环境下通过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（后续版本兼容）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src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源程序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带工程文件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|----PL  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编译程序目录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|----INTERPRET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抽象机代码解释程序目录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|----bin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执行程序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|----PL.exe   PL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编译程序</a:t>
            </a:r>
          </a:p>
          <a:p>
            <a:pPr marL="342900" marR="0" lvl="0" indent="-342900" algn="l" defTabSz="914400" rtl="0" eaLnBrk="0" fontAlgn="base" latinLnBrk="0" hangingPunct="0">
              <a:lnSpc>
                <a:spcPct val="135000"/>
              </a:lnSpc>
              <a:spcBef>
                <a:spcPct val="20000"/>
              </a:spcBef>
              <a:spcAft>
                <a:spcPct val="20000"/>
              </a:spcAft>
              <a:buClr>
                <a:srgbClr val="FF330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|----INTERPRET.exe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抽象机代码解释程序</a:t>
            </a:r>
          </a:p>
        </p:txBody>
      </p:sp>
    </p:spTree>
    <p:extLst>
      <p:ext uri="{BB962C8B-B14F-4D97-AF65-F5344CB8AC3E}">
        <p14:creationId xmlns:p14="http://schemas.microsoft.com/office/powerpoint/2010/main" val="521715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A1AF3-CA02-4F97-BCC0-B93D9CE9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方正粗黑宋简体" panose="02000000000000000000" pitchFamily="2" charset="-122"/>
              </a:rPr>
              <a:t>PL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</a:rPr>
              <a:t>编译器实习框架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2EE0B-1DFA-42A2-8408-0180090D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2590" y="2205384"/>
            <a:ext cx="3600450" cy="10080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</a:t>
            </a: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编译程序</a:t>
            </a:r>
          </a:p>
          <a:p>
            <a:pPr marL="0" marR="0" lvl="0" indent="0" algn="ctr" defTabSz="914400" rtl="0" eaLnBrk="1" fontAlgn="base" latinLnBrk="0" hangingPunct="1">
              <a:lnSpc>
                <a:spcPct val="13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PL.C 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→</a:t>
            </a:r>
            <a:r>
              <a:rPr kumimoji="0" lang="en-GB" alt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PL.</a:t>
            </a: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exe</a:t>
            </a:r>
            <a:endParaRPr kumimoji="0" lang="en-GB" alt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9E29E-CE31-4FFE-B611-57566A80F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002" y="3789709"/>
            <a:ext cx="3530600" cy="12239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</a:t>
            </a:r>
            <a:r>
              <a:rPr kumimoji="0" lang="zh-CN" alt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代码解释程序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INTERPRET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.C</a:t>
            </a:r>
          </a:p>
          <a:p>
            <a:pPr marL="0" marR="0" lvl="0" indent="0" algn="ctr" defTabSz="914400" rtl="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→</a:t>
            </a:r>
            <a:r>
              <a:rPr kumimoji="0" lang="en-GB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INTERPRET.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exe</a:t>
            </a:r>
            <a:endParaRPr kumimoji="0" lang="en-GB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6CD56CFE-8CB2-4A9D-BF99-46D80243E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6915" y="1630710"/>
            <a:ext cx="0" cy="574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AE3D3C49-BD59-4D83-AD81-5C6FBE920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5491" y="3213447"/>
            <a:ext cx="11425" cy="576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8CDD3F0-865D-422B-AC56-24B7A2B71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527" y="1244947"/>
            <a:ext cx="13541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test.pl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FD481C7-4C87-4CDF-8555-31FEB6B77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816" y="3213447"/>
            <a:ext cx="1368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test.pld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1896C42C-6950-4828-B0CF-F56710358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116" y="3213447"/>
            <a:ext cx="1368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test.lab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378B70EC-7465-4F02-B387-D43F45B39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6915" y="5013671"/>
            <a:ext cx="0" cy="28892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958581CD-B857-4998-A99E-2DAA238A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627" y="5229572"/>
            <a:ext cx="1512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执行结果</a:t>
            </a:r>
            <a:endParaRPr kumimoji="0" lang="en-GB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B23479FE-03F2-4350-B5CE-B54A4D00F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016" y="1268760"/>
            <a:ext cx="3024187" cy="720725"/>
          </a:xfrm>
          <a:prstGeom prst="wedgeRoundRectCallout">
            <a:avLst>
              <a:gd name="adj1" fmla="val -60972"/>
              <a:gd name="adj2" fmla="val 119162"/>
              <a:gd name="adj3" fmla="val 16667"/>
            </a:avLst>
          </a:prstGeom>
          <a:solidFill>
            <a:srgbClr val="FFFF99">
              <a:alpha val="99001"/>
            </a:srgbClr>
          </a:solidFill>
          <a:ln w="12700">
            <a:solidFill>
              <a:srgbClr val="FF33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增加</a:t>
            </a:r>
            <a:r>
              <a:rPr kumimoji="0" lang="en-GB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for</a:t>
            </a:r>
            <a:r>
              <a:rPr kumimoji="0" lang="zh-CN" alt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GB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repeat</a:t>
            </a:r>
            <a:r>
              <a:rPr kumimoji="0" lang="zh-CN" alt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GB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case</a:t>
            </a:r>
            <a:r>
              <a:rPr kumimoji="0" lang="zh-CN" alt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语句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3E806260-A35A-47D9-BB1A-1F658C00F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850" y="4153424"/>
            <a:ext cx="1871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</a:t>
            </a:r>
            <a:r>
              <a:rPr kumimoji="0" lang="zh-CN" alt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抽象机</a:t>
            </a:r>
          </a:p>
        </p:txBody>
      </p:sp>
    </p:spTree>
    <p:extLst>
      <p:ext uri="{BB962C8B-B14F-4D97-AF65-F5344CB8AC3E}">
        <p14:creationId xmlns:p14="http://schemas.microsoft.com/office/powerpoint/2010/main" val="39443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0" grpId="0"/>
      <p:bldP spid="12" grpId="0"/>
      <p:bldP spid="13" grpId="0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2faba57-4ec7-4a37-a4f6-ba3aaa17a751"/>
  <p:tag name="COMMONDATA" val="eyJoZGlkIjoiNzUxOTVkN2ZmMjVjM2EzNTY4MWNhM2I2OGZkMjAyO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pter-10-2006(2)">
  <a:themeElements>
    <a:clrScheme name="Chapter-10-2006(2)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hapter-10-2006(2)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hapter-10-2006(2)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pter-10-2006(2)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-10-2006(2)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-10-2006(2)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-10-2006(2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-10-2006(2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pter-10-2006(2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lecture01-introduction-169</Template>
  <TotalTime>9662</TotalTime>
  <Words>1028</Words>
  <Application>Microsoft Office PowerPoint</Application>
  <PresentationFormat>宽屏</PresentationFormat>
  <Paragraphs>162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方正粗黑宋简体</vt:lpstr>
      <vt:lpstr>宋体</vt:lpstr>
      <vt:lpstr>微软雅黑</vt:lpstr>
      <vt:lpstr>Arial</vt:lpstr>
      <vt:lpstr>Arial Narrow</vt:lpstr>
      <vt:lpstr>Calibri</vt:lpstr>
      <vt:lpstr>Times New Roman</vt:lpstr>
      <vt:lpstr>Wingdings</vt:lpstr>
      <vt:lpstr>Chapter-10-2006(2)</vt:lpstr>
      <vt:lpstr>Compiler Principles Course Design Overview</vt:lpstr>
      <vt:lpstr>教师介绍（ P009.02 ）</vt:lpstr>
      <vt:lpstr>上课时间、地点（ P009.02 ）</vt:lpstr>
      <vt:lpstr>课 程 安 排</vt:lpstr>
      <vt:lpstr>课本及参考书</vt:lpstr>
      <vt:lpstr>101计划</vt:lpstr>
      <vt:lpstr>101计划</vt:lpstr>
      <vt:lpstr>成绩构成（大纲规定）</vt:lpstr>
      <vt:lpstr>课程设计分组</vt:lpstr>
      <vt:lpstr>成绩评定</vt:lpstr>
      <vt:lpstr>进度安排（课本上有完整的实践要求）</vt:lpstr>
      <vt:lpstr>软件环境</vt:lpstr>
      <vt:lpstr>MIPS</vt:lpstr>
      <vt:lpstr>软件工程知识</vt:lpstr>
      <vt:lpstr>PL/0编译程序的扩展</vt:lpstr>
      <vt:lpstr>实验内容</vt:lpstr>
      <vt:lpstr>实验目标</vt:lpstr>
      <vt:lpstr>实验内容</vt:lpstr>
      <vt:lpstr>实验内容</vt:lpstr>
      <vt:lpstr>上机检查要求和流程</vt:lpstr>
      <vt:lpstr>文件和目录结构说明</vt:lpstr>
      <vt:lpstr>PL编译器实习框架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高级编译技术</dc:title>
  <dc:creator>hc</dc:creator>
  <cp:lastModifiedBy>朱婳</cp:lastModifiedBy>
  <cp:revision>1405</cp:revision>
  <dcterms:created xsi:type="dcterms:W3CDTF">2008-11-25T01:45:00Z</dcterms:created>
  <dcterms:modified xsi:type="dcterms:W3CDTF">2026-06-28T00:52:38Z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F2971172A88E4E1B9AA6244F48D63ACE_12</vt:lpwstr>
  </property>
  <property fmtid="{D5CDD505-2E9C-101B-9397-08002B2CF9AE}" pid="3" name="KSOProductBuildVer">
    <vt:lpwstr>2052-11.1.0.9305</vt:lpwstr>
  </property>
</Properties>
</file>